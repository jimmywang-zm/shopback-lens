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4E17"/>
                </a:solidFill>
                <a:latin typeface="Consolas"/>
              </a:rPr>
              <a:t>SHOPBACK  ·  PRODUCT PROPOSAL  ·  12-MONTH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FFFFF"/>
                </a:solidFill>
                <a:latin typeface="Segoe UI"/>
              </a:rPr>
              <a:t>ShopBack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8CED8"/>
                </a:solidFill>
                <a:latin typeface="Segoe UI Light"/>
              </a:rPr>
              <a:t>Turning every link, screenshot and question</a:t>
            </a:r>
            <a:br/>
            <a:r>
              <a:rPr sz="2600" b="0" i="0">
                <a:solidFill>
                  <a:srgbClr val="C8CED8"/>
                </a:solidFill>
                <a:latin typeface="Segoe UI Light"/>
              </a:rPr>
              <a:t>into a tracked ShopBack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292608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6634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2B0"/>
                </a:solidFill>
                <a:latin typeface="Segoe UI"/>
              </a:rPr>
              <a:t>ShopBack already has an answer engine. What it does not have is a capture surface for the journey that no longer starts at ShopBack. Lens is that intercept. Smart Rates is how merchants pay for verified incrementality without cutting anyone's published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4"/>
                </a:solidFill>
                <a:latin typeface="Consolas"/>
              </a:rPr>
              <a:t>Wang Zhiming (王至明)   ·   Launch: Singapore, then Malaysia + Taiwan   ·   29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ShopBack is built for a journey that no longer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Every surface ShopBack owns — the app home, the extension, the merchant directory — assumes the user decided to shop and then remembered to route through ShopBack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181D"/>
                </a:solidFill>
                <a:latin typeface="Segoe UI"/>
              </a:rPr>
              <a:t>Discovery has moved.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A product is seen inside a TikTok live, a creator's story, a WhatsApp group, a Xiaohongshu post. The path from “I want this” to “I bought this” is now two taps, and it never passes a ShopBack surface.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The cashback is not declined. It is simply never claimed — by a user who has the app installed and actively wants the money.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6832" y="2377440"/>
            <a:ext cx="4800600" cy="3246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56832" y="2377440"/>
            <a:ext cx="4800600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6016" y="2688336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6181D"/>
                </a:solidFill>
                <a:latin typeface="Segoe UI"/>
              </a:rPr>
              <a:t>What that costs, per lost order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4E17"/>
                </a:solidFill>
                <a:latin typeface="Consolas"/>
              </a:rPr>
              <a:t>The user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5A6270"/>
                </a:solidFill>
                <a:latin typeface="Segoe UI"/>
              </a:rPr>
              <a:t>earns nothing on a purchase they wanted cashback on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4E17"/>
                </a:solidFill>
                <a:latin typeface="Consolas"/>
              </a:rPr>
              <a:t>ShopBack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5A6270"/>
                </a:solidFill>
                <a:latin typeface="Segoe UI"/>
              </a:rPr>
              <a:t>earns nothing on demand it helped create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4E17"/>
                </a:solidFill>
                <a:latin typeface="Consolas"/>
              </a:rPr>
              <a:t>The merchant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5A6270"/>
                </a:solidFill>
                <a:latin typeface="Segoe UI"/>
              </a:rPr>
              <a:t>pays full price for a customer ShopBack could have claimed and measured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Segoe UI"/>
              </a:rPr>
              <a:t>Three parties lose on the same transaction. That is not a demand problem — it is a capture problem, and capture problems are the cheapest kind to fix.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709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WHERE THE JOURNEY ACTUALLY RUNS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038344"/>
            <a:ext cx="128016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11496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Segoe UI"/>
              </a:rPr>
              <a:t>See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12664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270"/>
                </a:solidFill>
                <a:latin typeface="Segoe UI"/>
              </a:rPr>
              <a:t>TikTok · IG · 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6544" y="5038344"/>
            <a:ext cx="128016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5111496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Segoe UI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5312664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270"/>
                </a:solidFill>
                <a:latin typeface="Segoe UI"/>
              </a:rPr>
              <a:t>Comments ·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5038344"/>
            <a:ext cx="128016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5111496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Segoe UI"/>
              </a:rPr>
              <a:t>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5312664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270"/>
                </a:solidFill>
                <a:latin typeface="Segoe UI"/>
              </a:rPr>
              <a:t>Merchant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73168" y="5038344"/>
            <a:ext cx="1280160" cy="566928"/>
          </a:xfrm>
          <a:prstGeom prst="rect">
            <a:avLst/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5111496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Regret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5312664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270"/>
                </a:solidFill>
                <a:latin typeface="Segoe UI"/>
              </a:rPr>
              <a:t>“was there cashback?”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5166360"/>
            <a:ext cx="45720" cy="31089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511149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261E"/>
                </a:solidFill>
                <a:latin typeface="Segoe UI"/>
              </a:rPr>
              <a:t>ShopBack</a:t>
            </a:r>
            <a:br/>
            <a:r>
              <a:rPr sz="1000" b="1" i="0">
                <a:solidFill>
                  <a:srgbClr val="B3261E"/>
                </a:solidFill>
                <a:latin typeface="Segoe UI"/>
              </a:rPr>
              <a:t>enters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8A0AC"/>
                </a:solidFill>
                <a:latin typeface="Segoe UI"/>
              </a:rPr>
              <a:t>Leakage rate is assumption [A-1] — the single number that determines whether this is a S$2M or a S$20M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And a second clock is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8BEC8"/>
                </a:solidFill>
                <a:latin typeface="Segoe UI"/>
              </a:rPr>
              <a:t>The capture problem is expensive today. The next one is existential.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General-purpose AI assistants are moving into shopping — discovery, comparison, and increasingly checkout.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B8BEC8"/>
                </a:solidFill>
                <a:latin typeface="Segoe UI"/>
              </a:rPr>
              <a:t>If that layer matures without ShopBack in it, ShopBack becomes a coupon utility that the assistant either absorbs or routes around.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4E17"/>
                </a:solidFill>
                <a:latin typeface="Segoe UI"/>
              </a:rPr>
              <a:t>An affiliate intermediary that does not own the intent layer does not survive the intent layer being automated.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21945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THREE THINGS ARE TRUE IN 2026 THAT WERE NOT IN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748272" y="2569464"/>
            <a:ext cx="4709160" cy="1024128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48272" y="2569464"/>
            <a:ext cx="44450" cy="1024128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4304" y="275234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4E17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7340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Multimodal models can resolve a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04495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AEBB"/>
                </a:solidFill>
                <a:latin typeface="Segoe UI"/>
              </a:rPr>
              <a:t>Cheaply and reliably enough for production, at a cost per call that fits inside a 2.4% take 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3703320"/>
            <a:ext cx="4709160" cy="1024128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48272" y="3703320"/>
            <a:ext cx="44450" cy="1024128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388620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4E17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67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Share sheets are habit, not novelty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1788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AEBB"/>
                </a:solidFill>
                <a:latin typeface="Segoe UI"/>
              </a:rPr>
              <a:t>Users already share content between apps dozens of times a week. No behaviour change is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4837176"/>
            <a:ext cx="4709160" cy="1024128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8272" y="4837176"/>
            <a:ext cx="44450" cy="1024128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4304" y="50200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4E17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001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Merchants are under CFO 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312664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AEBB"/>
                </a:solidFill>
                <a:latin typeface="Segoe UI"/>
              </a:rPr>
              <a:t>“Am I paying for customers I already had?” is being asked right now — which is what makes Smart Rates sellable this year.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Building Lens now is how ShopBack becomes the assistant for price and cashback, rather than a link the assistant strips 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4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ShopBack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Share anything. Get a tracked True Net Price. The new capability is the intercept — not another assistant.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488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egoe UI"/>
              </a:rPr>
              <a:t>Share anything into ShopBack — a TikTok link, a screenshot of an Instagram ad, a friend's WhatsApp message, or just a sentence. Lens identifies the product, prices it across every merchant that sells it, and hands back a one-tap tracked checkout.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17520"/>
            <a:ext cx="3401568" cy="2286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017520"/>
            <a:ext cx="34015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3273552"/>
            <a:ext cx="781812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63931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Mode A — Lens</a:t>
            </a:r>
            <a:br/>
            <a:r>
              <a:rPr sz="1600" b="1" i="0">
                <a:solidFill>
                  <a:srgbClr val="16181D"/>
                </a:solidFill>
                <a:latin typeface="Segoe UI"/>
              </a:rPr>
              <a:t>Paste &amp;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279392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270"/>
                </a:solidFill>
                <a:latin typeface="Segoe UI"/>
              </a:rPr>
              <a:t>Zero typing. Share a URL, image or screenshot from any app. Lens resolves it to a specific product using URL parsing, OCR and vision matching.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3017520"/>
            <a:ext cx="3401568" cy="2286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3017520"/>
            <a:ext cx="34015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3273552"/>
            <a:ext cx="859536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3931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Mode B — Ask</a:t>
            </a:r>
            <a:br/>
            <a:r>
              <a:rPr sz="1600" b="1" i="0">
                <a:solidFill>
                  <a:srgbClr val="16181D"/>
                </a:solidFill>
                <a:latin typeface="Segoe UI"/>
              </a:rPr>
              <a:t>Conversational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279392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270"/>
                </a:solidFill>
                <a:latin typeface="Segoe UI"/>
              </a:rPr>
              <a:t>“Best air fryer under S$150 for two people.” An LLM turns intent into a shortlist, each item carrying a one-line reason and a real net price.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3017520"/>
            <a:ext cx="3401568" cy="2286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017520"/>
            <a:ext cx="34015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3273552"/>
            <a:ext cx="704088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63931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The answer</a:t>
            </a:r>
            <a:br/>
            <a:r>
              <a:rPr sz="1600" b="1" i="0">
                <a:solidFill>
                  <a:srgbClr val="16181D"/>
                </a:solidFill>
                <a:latin typeface="Segoe UI"/>
              </a:rPr>
              <a:t>True Net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4279392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270"/>
                </a:solidFill>
                <a:latin typeface="Segoe UI"/>
              </a:rPr>
              <a:t>Both modes converge on one card: every merchant ranked by what the user actually pays, after stacked vouchers and personalised cashback.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541264"/>
            <a:ext cx="10765231" cy="86868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696712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True Net Price  =  Listed price  −  Stackable vouchers  −  Personalised cashback  +  Shipping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AA2B0"/>
                </a:solidFill>
                <a:latin typeface="Segoe UI"/>
              </a:rPr>
              <a:t>Ranked by what the user pays. Never by what ShopBack earns. This is a product principle, not an implementation detail.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ShopBack already has the answer engine. It does not have the intercept.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Proposing an AI shopping assistant would be proposing a product that is already live. Lens is the capture layer those products are missing.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77440"/>
            <a:ext cx="3108960" cy="38404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7744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Live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2192" y="2377440"/>
            <a:ext cx="3200400" cy="38404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37744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Job it already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2" y="2377440"/>
            <a:ext cx="4453128" cy="38404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2377440"/>
            <a:ext cx="4270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Gap that remains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761488"/>
            <a:ext cx="310896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61488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Segoe UI"/>
              </a:rPr>
              <a:t>AI Assistant  ·  Search by Photo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2192" y="2761488"/>
            <a:ext cx="32004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276148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Compare and match — inside the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2761488"/>
            <a:ext cx="445312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761488"/>
            <a:ext cx="42702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4E17"/>
                </a:solidFill>
                <a:latin typeface="Segoe UI"/>
              </a:rPr>
              <a:t>User must already have opened ShopBack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23697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236976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Smart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22192" y="323697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236976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Watch a price, notify when it moves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2592" y="3236976"/>
            <a:ext cx="4453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236976"/>
            <a:ext cx="42702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No attachment to a social capture. Becomes Watch inside Lens.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712464"/>
            <a:ext cx="310896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12464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Travel Planner  ·  ChatGPT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22192" y="3712464"/>
            <a:ext cx="32004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3712464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Travel compare, and cashback inside ChatGPT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3712464"/>
            <a:ext cx="445312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3712464"/>
            <a:ext cx="42702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Travel-only, or a different channel. Neither intercepts TikTok / WhatsApp.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18795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187952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Browser extension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22192" y="418795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418795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Desktop checkout reminder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22592" y="4187952"/>
            <a:ext cx="4453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4187952"/>
            <a:ext cx="42702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Misses mobile social commerce — where the leak now 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663440"/>
            <a:ext cx="310896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663440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Pay + card-linked  ·  AU Receipts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22192" y="4663440"/>
            <a:ext cx="32004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13632" y="4663440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In-store and offline frequency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22592" y="4663440"/>
            <a:ext cx="445312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4663440"/>
            <a:ext cx="42702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Different job. Does not recover an online social checkout.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5340096"/>
            <a:ext cx="10765231" cy="10515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" y="5541264"/>
            <a:ext cx="100337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Lens is not a new assistant. It is Share → ShopBack, from the app the user is already in.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EC8"/>
                </a:solidFill>
                <a:latin typeface="Segoe UI"/>
              </a:rPr>
              <a:t>Ask and Watch ship as components of that surface so a captured SKU never has to be re-found. They are not a parallel AI product.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Three users. One of them writes the cheque.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v1 is a retention-and-capture product. People who have never installed ShopBack are not the launch target.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48840"/>
            <a:ext cx="3401568" cy="3794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34015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682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Consolas"/>
              </a:rPr>
              <a:t>01 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791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81D"/>
                </a:solidFill>
                <a:latin typeface="Segoe UI"/>
              </a:rPr>
              <a:t>Social-first deal seeker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83280"/>
            <a:ext cx="2926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SG, 22–35. App already installed. Discovers on TikTok, Instagram, Xiaohongshu, WhatsApp. Wants cashback — that is why the app is there — but the journey never starts in ShopBack.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9377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Segoe UI"/>
              </a:rPr>
              <a:t>Job for Lens: remove the need to remember. Share sheet, under two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148840"/>
            <a:ext cx="3401568" cy="3794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148840"/>
            <a:ext cx="3401568" cy="508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3682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02  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791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81D"/>
                </a:solidFill>
                <a:latin typeface="Segoe UI"/>
              </a:rPr>
              <a:t>Considered buyer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383280"/>
            <a:ext cx="2926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SG, 28–45. Researching a S$200–S$2,000 purchase across merchant apps and a Telegram deals chat. High AOV, low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9377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Segoe UI"/>
              </a:rPr>
              <a:t>Job for Lens: capture the SKU, then refine in Ask on the same card ("must arrive Friday").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148840"/>
            <a:ext cx="3401568" cy="3794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148840"/>
            <a:ext cx="3401568" cy="508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3682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E3E"/>
                </a:solidFill>
                <a:latin typeface="Consolas"/>
              </a:rPr>
              <a:t>03  PAYING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6791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81D"/>
                </a:solidFill>
                <a:latin typeface="Segoe UI"/>
              </a:rPr>
              <a:t>Merchant growth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383280"/>
            <a:ext cx="2926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Owns performance budget. CFO is asking whether affiliate spend is buying incremental customers or discounting people they already had.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9377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81D"/>
                </a:solidFill>
                <a:latin typeface="Segoe UI"/>
              </a:rPr>
              <a:t>Job for Smart Rates: a holdout-verified CPA they can take to a QBR. This is why the feature is monetisable.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Four layers, sequenced so the riskiest part is tested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The catalogue eval happens in month zero, before a single line of client code is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48840"/>
            <a:ext cx="2487168" cy="23957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24871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4E17"/>
                </a:solidFill>
                <a:latin typeface="Consola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0848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iOS Share Extension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Android share intent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In-app paste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Clipboard on open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Screenshot 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2084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Small in code, large in app-store review risk.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5264" y="3154680"/>
            <a:ext cx="384048" cy="310896"/>
          </a:xfrm>
          <a:prstGeom prst="rightArrow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94176" y="2148840"/>
            <a:ext cx="2487168" cy="23957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94176" y="2148840"/>
            <a:ext cx="24871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5344" y="23865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4E17"/>
                </a:solidFill>
                <a:latin typeface="Consolas"/>
              </a:rPr>
              <a:t>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2715768"/>
            <a:ext cx="20848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URL parser per merchant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OCR + vision embedding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LLM intent extraction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→ canonical product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3977640"/>
            <a:ext cx="2084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Tuned toward false negatives. A wrong match is worse than no match.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36208" y="3154680"/>
            <a:ext cx="384048" cy="310896"/>
          </a:xfrm>
          <a:prstGeom prst="rightArrow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148840"/>
            <a:ext cx="2487168" cy="23957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148840"/>
            <a:ext cx="24871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3865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4E17"/>
                </a:solidFill>
                <a:latin typeface="Consolas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715768"/>
            <a:ext cx="20848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Live merchant price feed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Voucher stacking engine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Smart Rate for this user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= True Net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977640"/>
            <a:ext cx="2084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Cached per product. Never cached per user-merchant rate.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17152" y="3154680"/>
            <a:ext cx="384048" cy="310896"/>
          </a:xfrm>
          <a:prstGeom prst="rightArrow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56064" y="2148840"/>
            <a:ext cx="2487168" cy="23957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56064" y="2148840"/>
            <a:ext cx="2487168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23865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4E17"/>
                </a:solidFill>
                <a:latin typeface="Consolas"/>
              </a:rPr>
              <a:t>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715768"/>
            <a:ext cx="20848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Tracked deeplink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App-to-app attribution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In-app browser fallback</a:t>
            </a:r>
            <a:br/>
            <a:r>
              <a:rPr sz="1150" b="0" i="0">
                <a:solidFill>
                  <a:srgbClr val="16181D"/>
                </a:solidFill>
                <a:latin typeface="Segoe UI"/>
              </a:rPr>
              <a:t>Automated canary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3977640"/>
            <a:ext cx="2084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A silently broken handoff is a silent revenue leak.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837176"/>
            <a:ext cx="10765231" cy="12801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837176"/>
            <a:ext cx="50800" cy="12801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50383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The build risk is the catalogue, not the interface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BEC8"/>
                </a:solidFill>
                <a:latin typeface="Segoe UI"/>
              </a:rPr>
              <a:t>If ShopBack cannot reliably say “this Lazada listing and this Shopee listing are the same product,” Lens has no comparison to show.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038344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4E17"/>
                </a:solidFill>
                <a:latin typeface="Segoe UI"/>
              </a:rPr>
              <a:t>So it is tested before it is built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BEC8"/>
                </a:solidFill>
                <a:latin typeface="Segoe UI"/>
              </a:rPr>
              <a:t>Month 0 runs an offline eval on 2,000 real social links and screenshots. Below 55% match rate [A-4], the project is re-sequenced behind a catalogue investment rather than shipped on hope.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USE CASE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The TikTok Live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Jia Hui, 27, Singapore. Has ShopBack installed. Watching a live sell a hair dryer at S$189.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48840"/>
            <a:ext cx="2578608" cy="1874519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6829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4E1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3405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She long-presses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6324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Taps the native Share menu inside TikTok and picks ShopBack. She has not left the live 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2148840"/>
            <a:ext cx="2578608" cy="1874519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36829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4E17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3405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Lens resolves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06324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A sheet slides up over TikTok: matched product, thumbnail, and “finding your best price.” Under two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48840"/>
            <a:ext cx="2578608" cy="1874519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36829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4E1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3405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True Net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06324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Three merchants, ranked by what she actually pays. Lazada wins at S$168.26 because she has never bought from that seller — a 6% welcome 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264" y="2148840"/>
            <a:ext cx="2578608" cy="1874519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36829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4E17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734056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One tap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6324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Tracked deeplink into Lazada. ShopBack captures an order it would otherwise have lost entirely.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97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WHAT SHE ACTUALLY SEES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645152"/>
            <a:ext cx="411480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451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Merchant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8032" y="4645152"/>
            <a:ext cx="173736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46451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Listed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4645152"/>
            <a:ext cx="237744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6451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Cashback 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42832" y="4645152"/>
            <a:ext cx="182880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46451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True net price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71632" y="4645152"/>
            <a:ext cx="704088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63072" y="4645152"/>
            <a:ext cx="52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ectangle 33"/>
          <p:cNvSpPr/>
          <p:nvPr/>
        </p:nvSpPr>
        <p:spPr>
          <a:xfrm>
            <a:off x="713232" y="5010912"/>
            <a:ext cx="41148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0109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Segoe UI"/>
              </a:rPr>
              <a:t>Lazada  ·  never bought 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2" y="5010912"/>
            <a:ext cx="17373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50109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S$179.00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65392" y="5010912"/>
            <a:ext cx="237744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50109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6% welcome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42832" y="5010912"/>
            <a:ext cx="18288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50109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E3E"/>
                </a:solidFill>
                <a:latin typeface="Segoe UI"/>
              </a:rPr>
              <a:t>S$168.26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71632" y="5010912"/>
            <a:ext cx="704088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63072" y="5010912"/>
            <a:ext cx="52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E3E"/>
                </a:solidFill>
                <a:latin typeface="Segoe UI"/>
              </a:rPr>
              <a:t>BEST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5376672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37667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TikTok Shop  ·  the link she shared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5376672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9472" y="53766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S$189.00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5392" y="5376672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6832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2.5% base 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42832" y="537667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34272" y="53766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S$184.28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71632" y="5376672"/>
            <a:ext cx="7040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63072" y="5376672"/>
            <a:ext cx="52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Rectangle 53"/>
          <p:cNvSpPr/>
          <p:nvPr/>
        </p:nvSpPr>
        <p:spPr>
          <a:xfrm>
            <a:off x="713232" y="5742432"/>
            <a:ext cx="41148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57424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Official brand store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28032" y="5742432"/>
            <a:ext cx="17373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19472" y="574243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S$205.00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5742432"/>
            <a:ext cx="237744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56832" y="57424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8% base 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42832" y="5742432"/>
            <a:ext cx="18288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4272" y="57424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S$188.60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71632" y="5742432"/>
            <a:ext cx="704088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63072" y="5742432"/>
            <a:ext cx="52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8A0AC"/>
                </a:solidFill>
                <a:latin typeface="Segoe UI"/>
              </a:rPr>
              <a:t>Headline framing is always relative to what she was about to do: “S$20.74 better than the link you shared.”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THE MONETISATION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Smart Rates — where the money actually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8BEC8"/>
                </a:solidFill>
                <a:latin typeface="Segoe UI"/>
              </a:rPr>
              <a:t>Three claims cannot be true at once: rates only go up, merchant spend is unchanged, and ShopBack margin expands by cutting ACTIVE users. The last of those is not the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77440"/>
            <a:ext cx="56235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4E17"/>
                </a:solidFill>
                <a:latin typeface="Segoe UI"/>
              </a:rPr>
              <a:t>The extra cashback is a merchant-funded boost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B8BEC8"/>
                </a:solidFill>
                <a:latin typeface="Segoe UI"/>
              </a:rPr>
              <a:t>On top of the published base rate — never instead of it. NEW and LAPSED customers may see a welcome or win-back offer. ACTIVE customers keep the public rate. ShopBack does not pay for the boost by reducing anyone.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4E17"/>
                </a:solidFill>
                <a:latin typeface="Segoe UI"/>
              </a:rPr>
              <a:t>ShopBack's new line is a platform fee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B8BEC8"/>
                </a:solidFill>
                <a:latin typeface="Segoe UI"/>
              </a:rPr>
              <a:t>71 basis points on GMV from participating merchants, charged for allocation and a holdout-verified incrementality report. Same shape as a managed-service fee. Extra cashback paid to shoppers is a pass-through of the merchant's boost budget, not ShopBack margin.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Merchant base spend does not fall. Total spend rises by the optional budget plus the fee — they are buying a CPA they can defend at a QBR, which is the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6832" y="2377440"/>
            <a:ext cx="105156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2377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08392" y="2377440"/>
            <a:ext cx="155448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2377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Definition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62872" y="2377440"/>
            <a:ext cx="123444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37744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2377440"/>
            <a:ext cx="96012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88752" y="23774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56832" y="2743200"/>
            <a:ext cx="105156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743200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2743200"/>
            <a:ext cx="155448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274320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Never purchased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62872" y="2743200"/>
            <a:ext cx="123444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74320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8E3E"/>
                </a:solidFill>
                <a:latin typeface="Segoe UI"/>
              </a:rPr>
              <a:t>Boost to 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97312" y="2743200"/>
            <a:ext cx="96012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88752" y="274320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8E3E"/>
                </a:solidFill>
                <a:latin typeface="Segoe UI"/>
              </a:rPr>
              <a:t>8–12%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2" y="3145536"/>
            <a:ext cx="1051560" cy="402336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3145536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LAPSED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8392" y="3145536"/>
            <a:ext cx="1554480" cy="402336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2" y="314553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No purchase in 180+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62872" y="3145536"/>
            <a:ext cx="1234440" cy="402336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314553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8E3E"/>
                </a:solidFill>
                <a:latin typeface="Segoe UI"/>
              </a:rPr>
              <a:t>Win-back 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97312" y="3145536"/>
            <a:ext cx="960120" cy="402336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88752" y="314553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8E3E"/>
                </a:solidFill>
                <a:latin typeface="Segoe UI"/>
              </a:rPr>
              <a:t>6–8%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3547872"/>
            <a:ext cx="105156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3547872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3547872"/>
            <a:ext cx="155448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9832" y="3547872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Bought recently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62872" y="3547872"/>
            <a:ext cx="123444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3547872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Published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97312" y="3547872"/>
            <a:ext cx="960120" cy="402336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88752" y="354787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2" y="4160520"/>
            <a:ext cx="4800600" cy="2011680"/>
          </a:xfrm>
          <a:prstGeom prst="rect">
            <a:avLst/>
          </a:prstGeom>
          <a:solidFill>
            <a:srgbClr val="22252C"/>
          </a:solidFill>
          <a:ln w="1905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43400"/>
            <a:ext cx="4343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B3261E"/>
                </a:solidFill>
                <a:latin typeface="Consolas"/>
              </a:rPr>
              <a:t>NON-NEGOTIABLE GUARDRAIL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 user never sees a rate below the published base.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2B0"/>
                </a:solidFill>
                <a:latin typeface="Segoe UI"/>
              </a:rPr>
              <a:t>Personalisation only adjusts upward. Downward discrimination would be a trust failure and, in some markets, a regulatory one. Monitored in real time. Zero tolerance.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Merchants buy a higher rate — which lowers net price and earns rank honestly. They cannot buy position.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4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PRIORITISATION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Why this, over the other things I considered — including what is already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Scoring is judgement, not measured data. The ordering and the reasoning are the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48840"/>
            <a:ext cx="3246120" cy="47548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3063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9352" y="2148840"/>
            <a:ext cx="1051560" cy="47548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2" y="2148840"/>
            <a:ext cx="868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Demand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2148840"/>
            <a:ext cx="1143000" cy="47548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2148840"/>
            <a:ext cx="960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12-month</a:t>
            </a:r>
            <a:br/>
            <a:r>
              <a:rPr sz="950" b="1" i="0">
                <a:solidFill>
                  <a:srgbClr val="FFFFFF"/>
                </a:solidFill>
                <a:latin typeface="Segoe UI"/>
              </a:rPr>
              <a:t>feasibility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2148840"/>
            <a:ext cx="1097280" cy="47548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21488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Margin</a:t>
            </a:r>
            <a:br/>
            <a:r>
              <a:rPr sz="950" b="1" i="0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2148840"/>
            <a:ext cx="4224528" cy="475488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2148840"/>
            <a:ext cx="4041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624328"/>
            <a:ext cx="32461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624328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Lens + Smart Rates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9352" y="2624328"/>
            <a:ext cx="10515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2" y="2624328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2624328"/>
            <a:ext cx="1143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2624328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2624328"/>
            <a:ext cx="109728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624328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1192" y="2624328"/>
            <a:ext cx="4224528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2624328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SELECTED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297180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97180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Deeper in-app AI (Assistant / Photo)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9352" y="2971800"/>
            <a:ext cx="1051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0792" y="2971800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0912" y="2971800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97180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297180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2971800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1192" y="2971800"/>
            <a:ext cx="42245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2" y="2971800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Improves a surface the leaky journey never visits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3319272"/>
            <a:ext cx="32461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31927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Card-linked on all online spend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9352" y="3319272"/>
            <a:ext cx="10515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0792" y="3319272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3319272"/>
            <a:ext cx="1143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2352" y="3319272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912" y="3319272"/>
            <a:ext cx="109728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331927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51192" y="3319272"/>
            <a:ext cx="4224528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2" y="3319272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Already live in SG in-store. Still misses social checkouts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3666744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366674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Instant cashback at checkout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59352" y="3666744"/>
            <a:ext cx="1051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0792" y="3666744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0912" y="3666744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2352" y="3666744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53912" y="3666744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3666744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Negative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51192" y="3666744"/>
            <a:ext cx="42245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2632" y="3666744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A credit-risk decision, and trivially copied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" y="4014216"/>
            <a:ext cx="32461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014216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Retail media network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59352" y="4014216"/>
            <a:ext cx="10515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0792" y="4014216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10912" y="4014216"/>
            <a:ext cx="1143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02352" y="4014216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53912" y="4014216"/>
            <a:ext cx="109728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5352" y="4014216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Very 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51192" y="4014216"/>
            <a:ext cx="4224528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42632" y="4014216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Needs the intent graph Lens creates. The sequel.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4361688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" y="4361688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Receipt-scan in 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9352" y="4361688"/>
            <a:ext cx="1051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50792" y="4361688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10912" y="4361688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02352" y="4361688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53912" y="43616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45352" y="4361688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51192" y="4361688"/>
            <a:ext cx="42245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42632" y="4361688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Already live in AU. Separate sales motion.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" y="4709160"/>
            <a:ext cx="32461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" y="47091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Expand ShopBack Plus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59352" y="4709160"/>
            <a:ext cx="10515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50792" y="4709160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Low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10912" y="4709160"/>
            <a:ext cx="1143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02352" y="470916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E3E"/>
                </a:solidFill>
                <a:latin typeface="Segoe UI"/>
              </a:rPr>
              <a:t>High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53912" y="4709160"/>
            <a:ext cx="109728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4709160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51192" y="4709160"/>
            <a:ext cx="4224528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42632" y="4709160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Already live. SEA willingness to pay is the risk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3232" y="5056632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672" y="505663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Group-buy / social tiers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59352" y="5056632"/>
            <a:ext cx="1051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50792" y="5056632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Low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10912" y="505663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02352" y="5056632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Medium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3912" y="5056632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45352" y="505663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3261E"/>
                </a:solidFill>
                <a:latin typeface="Segoe UI"/>
              </a:rPr>
              <a:t>Low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51192" y="5056632"/>
            <a:ext cx="42245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42632" y="5056632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Incentivises gaming, dilutes economics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3232" y="5532120"/>
            <a:ext cx="10765231" cy="1097280"/>
          </a:xfrm>
          <a:prstGeom prst="rect">
            <a:avLst/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13232" y="5532120"/>
            <a:ext cx="50800" cy="109728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4128" y="5678424"/>
            <a:ext cx="101251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6181D"/>
                </a:solidFill>
                <a:latin typeface="Segoe UI"/>
              </a:rPr>
              <a:t>Every other option either already exists, asks the user to want something new, or cannot ship in 12 months.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4228"/>
                </a:solidFill>
                <a:latin typeface="Segoe UI"/>
              </a:rPr>
              <a:t>Lens asks them to do something they already want, from the app they are already in. That is the cheapest demand assumption I can make, and the one most likely to survive contact with users.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I have no ShopBack data. Here is exactly what I made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8BEC8"/>
                </a:solidFill>
                <a:latin typeface="Segoe UI"/>
              </a:rPr>
              <a:t>Every number in this deck is an explicit assumption with a named test and a kill condition. Eighteen are listed in the PRD; these are the three the business case actually hangs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77440"/>
            <a:ext cx="3456432" cy="361188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77440"/>
            <a:ext cx="3456432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633472"/>
            <a:ext cx="470916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A-1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8094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4E17"/>
                </a:solidFill>
                <a:latin typeface="Segoe U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54787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Leakage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895344"/>
            <a:ext cx="29443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B8BEC8"/>
                </a:solidFill>
                <a:latin typeface="Segoe UI"/>
              </a:rPr>
              <a:t>Share of purchases at partner merchants that never pass through a tracked ShopBack session.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8A929E"/>
                </a:solidFill>
                <a:latin typeface="Consolas"/>
              </a:rPr>
              <a:t>TEST  Panel survey of 500 SG users plus an opt-in email-receipt panel for ground truth.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261E"/>
                </a:solidFill>
                <a:latin typeface="Consolas"/>
              </a:rPr>
              <a:t>KILL  Below 30% — the recoverable pool is too small to justify the 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377440"/>
            <a:ext cx="3456432" cy="361188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377440"/>
            <a:ext cx="3456432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0872" y="2633472"/>
            <a:ext cx="470916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A-4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98094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4E17"/>
                </a:solidFill>
                <a:latin typeface="Segoe UI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54787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Match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895344"/>
            <a:ext cx="29443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B8BEC8"/>
                </a:solidFill>
                <a:latin typeface="Segoe UI"/>
              </a:rPr>
              <a:t>Share of submissions resolved to a confident product match across URL, image and text paths.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8A929E"/>
                </a:solidFill>
                <a:latin typeface="Consolas"/>
              </a:rPr>
              <a:t>TEST  Offline eval on 2,000 real social links and screenshots, in month zero, before any client code.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261E"/>
                </a:solidFill>
                <a:latin typeface="Consolas"/>
              </a:rPr>
              <a:t>KILL  Below 55% — the catalogue is not ready and the project is re-sequenced.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2377440"/>
            <a:ext cx="3456432" cy="361188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2377440"/>
            <a:ext cx="3456432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2633472"/>
            <a:ext cx="470916" cy="219456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4E17"/>
                </a:solidFill>
                <a:latin typeface="Consolas"/>
              </a:rPr>
              <a:t>A-8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8094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4E17"/>
                </a:solidFill>
                <a:latin typeface="Segoe UI"/>
              </a:rPr>
              <a:t>55%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4787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Incrementality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95344"/>
            <a:ext cx="29443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B8BEC8"/>
                </a:solidFill>
                <a:latin typeface="Segoe UI"/>
              </a:rPr>
              <a:t>Share of Lens-attributed orders that would not otherwise have been tracked by ShopBack.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8A929E"/>
                </a:solidFill>
                <a:latin typeface="Consolas"/>
              </a:rPr>
              <a:t>TEST  Randomised 10% user-level holdout for eight weeks, comparing tracked orders per user.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261E"/>
                </a:solidFill>
                <a:latin typeface="Consolas"/>
              </a:rPr>
              <a:t>KILL  Below 25% — Lens is cannibalising, and is a cost line rather than a revenue 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A929E"/>
                </a:solidFill>
                <a:latin typeface="Segoe UI"/>
              </a:rPr>
              <a:t>Also assumed and stated in the PRD: adoption, usage intensity, funnel conversion, AOV, merchant participation, unit cost, platform tolerance. What I am explicitly NOT assuming: new-user acquisition, own price-crawling, in-app checkout, willingness to pay.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4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Singapore, month-12 run-rate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These are the arithmetic consequences of the assumptions on the previous slide — not a forecast. The workbook is live: change any input and this recalculates.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77440"/>
            <a:ext cx="5806440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77440"/>
            <a:ext cx="5550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Singapore monthly actives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37744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7744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770632"/>
            <a:ext cx="4645152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70632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Use Lens at least once a month  ·  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77063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132,000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770632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163824"/>
            <a:ext cx="3948379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163824"/>
            <a:ext cx="36923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Submissions  ·  3.2 per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31638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422,400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6382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557016"/>
            <a:ext cx="3251606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57016"/>
            <a:ext cx="299557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Confident product match  ·  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55701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329,472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55701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950208"/>
            <a:ext cx="2554833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950208"/>
            <a:ext cx="229880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Tracked click-out  ·  46%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9502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151,557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95020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343400"/>
            <a:ext cx="1858060" cy="329184"/>
          </a:xfrm>
          <a:prstGeom prst="rect">
            <a:avLst/>
          </a:prstGeom>
          <a:solidFill>
            <a:srgbClr val="FFB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343400"/>
            <a:ext cx="16020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Segoe UI"/>
              </a:rPr>
              <a:t>Orders  ·  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34340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14,398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3434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736592"/>
            <a:ext cx="1277416" cy="329184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18664" y="4736592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4E17"/>
                </a:solidFill>
                <a:latin typeface="Segoe UI"/>
              </a:rPr>
              <a:t>INCREMENTAL orders  ·  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73659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onsolas"/>
              </a:rPr>
              <a:t>7,919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736592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4E17"/>
                </a:solidFill>
                <a:latin typeface="Consolas"/>
              </a:rPr>
              <a:t>A-8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7032" y="2377440"/>
            <a:ext cx="3200400" cy="278892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57032" y="2377440"/>
            <a:ext cx="3200400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26151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4E17"/>
                </a:solidFill>
                <a:latin typeface="Consolas"/>
              </a:rPr>
              <a:t>ANNUALISED AT M12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2926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S$11.3M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2" y="325526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2B0"/>
                </a:solidFill>
                <a:latin typeface="Segoe UI"/>
              </a:rPr>
              <a:t>Incremental GMV</a:t>
            </a:r>
            <a:br/>
            <a:r>
              <a:rPr sz="1000" b="0" i="0">
                <a:solidFill>
                  <a:srgbClr val="9AA2B0"/>
                </a:solidFill>
                <a:latin typeface="Segoe UI"/>
              </a:rPr>
              <a:t>incl. retention lift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36758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S$271k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400507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2B0"/>
                </a:solidFill>
                <a:latin typeface="Segoe UI"/>
              </a:rPr>
              <a:t>Net revenue from Lens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442569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S$994k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4754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2B0"/>
                </a:solidFill>
                <a:latin typeface="Segoe UI"/>
              </a:rPr>
              <a:t>Smart Rates platform fee</a:t>
            </a:r>
            <a:br/>
            <a:r>
              <a:rPr sz="1000" b="0" i="0">
                <a:solidFill>
                  <a:srgbClr val="9AA2B0"/>
                </a:solidFill>
                <a:latin typeface="Segoe UI"/>
              </a:rPr>
              <a:t>(71 bps on participating GMV)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5349240"/>
            <a:ext cx="10765231" cy="969264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5349240"/>
            <a:ext cx="50800" cy="969264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" y="5495544"/>
            <a:ext cx="101251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181D"/>
                </a:solidFill>
                <a:latin typeface="Segoe UI"/>
              </a:rPr>
              <a:t>Combined SG run-rate S$1.26M  ·  against S$2.6M of team cost, year one does not pay the team back — and is not supposed to.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Segoe UI"/>
              </a:rPr>
              <a:t>Year one buys a run-rate; year two collects it. Malaysia and Taiwan launch in M10–M12 and contribute almost nothing inside the window, but they lift the M12 exit run-rate to roughly S$4.0M. That is the investment number — not year-one P&amp;L.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What happens when the assumptions are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Four inputs varied; everything else held at base. GMV and revenue include retention lift, matching the previous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77440"/>
            <a:ext cx="329184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2377440"/>
            <a:ext cx="146304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2377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Conservative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2377440"/>
            <a:ext cx="146304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2377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1152" y="2377440"/>
            <a:ext cx="1463040" cy="3657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377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Aggressive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743200"/>
            <a:ext cx="32918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432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Lens adoption  [A-2]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5072" y="2743200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27432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8112" y="2743200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7432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22%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1152" y="2743200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7432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35%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127248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1272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Match rate  [A-4]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5072" y="312724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6512" y="312724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62%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68112" y="312724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312724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78%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1152" y="312724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312724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88%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511296"/>
            <a:ext cx="32918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51129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Incrementality  [A-8]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3511296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351129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35%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68112" y="3511296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9552" y="351129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55%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31152" y="3511296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351129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89534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89534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Smart Rates GMV participation  [A-9]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05072" y="389534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96512" y="38953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68112" y="389534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38953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31152" y="389534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22592" y="38953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Segoe UI"/>
              </a:rPr>
              <a:t>55%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4279392"/>
            <a:ext cx="32918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27939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Incremental GMV, annualised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5072" y="4279392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96512" y="427939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S$3.1M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68112" y="4279392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427939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4E17"/>
                </a:solidFill>
                <a:latin typeface="Segoe UI"/>
              </a:rPr>
              <a:t>S$11.3M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31152" y="4279392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427939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S$24.2M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4663440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466344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Total net revenue, Singapore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6634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96512" y="466344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S$0.50M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68112" y="46634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9552" y="466344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4E17"/>
                </a:solidFill>
                <a:latin typeface="Segoe UI"/>
              </a:rPr>
              <a:t>S$1.26M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31152" y="46634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22592" y="466344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S$2.14M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5047488"/>
            <a:ext cx="32918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04748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M12 exit run-rate, three markets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5072" y="5047488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6512" y="504748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S$1.6M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68112" y="5047488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9552" y="504748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4E17"/>
                </a:solidFill>
                <a:latin typeface="Segoe UI"/>
              </a:rPr>
              <a:t>S$4.0M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31152" y="5047488"/>
            <a:ext cx="146304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22592" y="504748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S$6.9M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05672" y="2377440"/>
            <a:ext cx="2651760" cy="393192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05672" y="2377440"/>
            <a:ext cx="2651760" cy="508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79992" y="2651760"/>
            <a:ext cx="2103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The argument is the asymmetry, not the base case.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B8BEC8"/>
                </a:solidFill>
                <a:latin typeface="Segoe UI"/>
              </a:rPr>
              <a:t>Conservative assumes adoption misses by half, the catalogue underperforms, and two-thirds of Lens orders are cannibalised.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FF4E17"/>
                </a:solidFill>
                <a:latin typeface="Segoe UI"/>
              </a:rPr>
              <a:t>SG run-rate is then S$0.50M. That does not cover a S$2.6M team in year one.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EC8"/>
                </a:solidFill>
                <a:latin typeface="Segoe UI"/>
              </a:rPr>
              <a:t>Fund it if A-1 and A-4 clear Phase 0. Kill it in month one if they do not.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How I would know it is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792224"/>
            <a:ext cx="5029200" cy="1993392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92224"/>
            <a:ext cx="50800" cy="199339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4E17"/>
                </a:solidFill>
                <a:latin typeface="Consolas"/>
              </a:rPr>
              <a:t>NORTH STAR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Incremental tracked GMV per monthly active user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2B0"/>
                </a:solidFill>
                <a:latin typeface="Segoe UI"/>
              </a:rPr>
              <a:t>Base-case target +S$1.57 per MAU per month. Not “Lens usage” — inflatable with prompts. Not plain GMV — that rewards cannibalising traffic we already had. Only incremental GMV per user reflects real growth, and defining it this way forces the holdout to stay in place all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950208"/>
            <a:ext cx="5029200" cy="16002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3950208"/>
            <a:ext cx="50800" cy="1600200"/>
          </a:xfrm>
          <a:prstGeom prst="rect">
            <a:avLst/>
          </a:prstGeom>
          <a:solidFill>
            <a:srgbClr val="4A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AA2B0"/>
                </a:solidFill>
                <a:latin typeface="Consolas"/>
              </a:rPr>
              <a:t>COUNTER-METRIC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Tracked orders per user in the NON-Lens cohort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2B0"/>
                </a:solidFill>
                <a:latin typeface="Segoe UI"/>
              </a:rPr>
              <a:t>If Lens is creating value this stays flat while the Lens cohort rises. If it falls, Lens is redistributing rather than creating — and I would rather find that myself than have Finance find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77393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261E"/>
                </a:solidFill>
                <a:latin typeface="Consolas"/>
              </a:rPr>
              <a:t>GUARDRAILS  —  ANY BREACH BLOCKS FURTHER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084832"/>
            <a:ext cx="361188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848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Guardrail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11512" y="2084832"/>
            <a:ext cx="1645920" cy="36576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2952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2450592"/>
            <a:ext cx="361188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4505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False-match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11512" y="2450592"/>
            <a:ext cx="164592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24505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≤ 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2793492"/>
            <a:ext cx="361188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7934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Cost per resolution  [A-10]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2" y="2793492"/>
            <a:ext cx="164592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27934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≤ S$0.02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136392"/>
            <a:ext cx="361188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31363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Time to first answer, p95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11512" y="3136392"/>
            <a:ext cx="164592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31363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≤ 2.5s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3479292"/>
            <a:ext cx="361188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4792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Rate-floor violations  ·  zero tolerance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1512" y="3479292"/>
            <a:ext cx="164592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2952" y="34792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8A65"/>
                </a:solidFill>
                <a:latin typeface="Segoe UI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3822192"/>
            <a:ext cx="361188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8221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Merchant churn vs. baseline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11512" y="3822192"/>
            <a:ext cx="1645920" cy="342900"/>
          </a:xfrm>
          <a:prstGeom prst="rect">
            <a:avLst/>
          </a:prstGeom>
          <a:solidFill>
            <a:srgbClr val="22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38221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≤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4165092"/>
            <a:ext cx="361188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4165092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Support contacts per 1k sessions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11512" y="4165092"/>
            <a:ext cx="1645920" cy="3429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2" y="4165092"/>
            <a:ext cx="146304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≤ 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736592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THE EXPERIMENTAL DESIGN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2B0"/>
                </a:solidFill>
                <a:latin typeface="Segoe UI"/>
              </a:rPr>
              <a:t>A randomised 10% of SG users never receive Lens for the first eight weeks, and a smaller permanent holdout persists all year. Every impact claim is read off that comparison — never off Lens-cohort behaviour in isolation. Smart Rates is validated separately with merchant-level switchbacks, so the incrementality report we sell to merchants is one we can defend under audit.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4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Twelve months, six phases, five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270"/>
                </a:solidFill>
                <a:latin typeface="Segoe UI"/>
              </a:rPr>
              <a:t>Each phase has a gate. Failing a gate changes the plan rather than the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37944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48840"/>
            <a:ext cx="10765231" cy="5760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48840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De-risk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5" y="2148840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M0–M1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Offline resolution eval on 2,000 real links. Leakage survey. Concierge test: a WhatsApp number where a human does Lens by hand for 100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2148840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A-1 ≥ 30% and A-4 ≥ 55%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761488"/>
            <a:ext cx="10765231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761488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761488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61488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Alpha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5" y="2761488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M2–M3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761488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URL-only Lens, top 8 SG merchants, Android share sheet and in-app paste. 5,000-user closed beta.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761488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Funnel in range, p95 &lt; 2.5s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374136"/>
            <a:ext cx="10765231" cy="5760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374136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374136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74136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Beta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5" y="3374136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M4–M5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3374136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iOS Share Extension, image and OCR path, Watchlist. 20% SG rollout with a 10% holdout.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3374136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Adoption trending, guardrails green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986784"/>
            <a:ext cx="10765231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986784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3986784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86784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GA + monetise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9775" y="3986784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M6–M7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3986784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Conversational Ask. 100% Singapore. Smart Rates pilot with 10 hand-managed merchants.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3986784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Pilot merchants renew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4599432"/>
            <a:ext cx="10765231" cy="5760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4599432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4599432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599432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Scale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5" y="4599432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M8–M9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4599432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Smart Rates self-serve console with incrementality reporting.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4599432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Participation trending to 35%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" y="5212080"/>
            <a:ext cx="10765231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44450" cy="576072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212080"/>
            <a:ext cx="365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4E17"/>
                </a:solidFill>
                <a:latin typeface="Consola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212080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81D"/>
                </a:solidFill>
                <a:latin typeface="Segoe UI"/>
              </a:rPr>
              <a:t>Expand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9775" y="5212080"/>
            <a:ext cx="777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onsolas"/>
              </a:rPr>
              <a:t>M10–M12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9312" y="5212080"/>
            <a:ext cx="5029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Malaysia and Taiwan. Browser-extension parity. Shareable Lens result cards.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05672" y="5212080"/>
            <a:ext cx="26517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E17"/>
                </a:solidFill>
                <a:latin typeface="Consolas"/>
              </a:rPr>
              <a:t>GATE  SG unit economics positive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8A0AC"/>
                </a:solidFill>
                <a:latin typeface="Segoe UI"/>
              </a:rPr>
              <a:t>The sequencing point: the catalogue eval happens before any client code is written. It is the assumption most likely to be wrong and the most expensive to discover late.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Segoe U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81D"/>
                </a:solidFill>
                <a:latin typeface="Segoe UI"/>
              </a:rPr>
              <a:t>What would kill this, and what I would do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91440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792224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92224"/>
            <a:ext cx="44450" cy="640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92224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3261E"/>
                </a:solidFill>
                <a:latin typeface="Consolas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792224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The catalogue cannot match SKUs across merchants  [A-4]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79222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Phase 0 gate before any client build. Fallback: same-merchant-only comparison, which still recovers leakage even without cross-merchant ranking.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487168"/>
            <a:ext cx="44450" cy="640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48716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3261E"/>
                </a:solidFill>
                <a:latin typeface="Consola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487168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TikTok or Meta block share-out, or strip affiliate links  [A-14]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48716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Keep manual-paste and clipboard paths alive — no platform can block those. Diversify capture surfaces rather than depending on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182112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182112"/>
            <a:ext cx="44450" cy="640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1821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3261E"/>
                </a:solidFill>
                <a:latin typeface="Consola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182112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Lens cannibalises rather than creates tracked orders  [A-8]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182112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Permanent holdout. The North Star is defined specifically so cannibalisation cannot be mistaken for growth.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877056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877056"/>
            <a:ext cx="44450" cy="640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877056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3261E"/>
                </a:solidFill>
                <a:latin typeface="Consolas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3877056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Merchants refuse Smart Rates  [A-9]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87705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Pilot-sell to 10 merchants in M6 before building self-serve. If it fails, Lens is re-justified on retention alone at reduced scope.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572000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572000"/>
            <a:ext cx="44450" cy="64008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onsolas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45720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LLM cost scales faster than revenue  [A-10]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45720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The URL path carries the majority of volume and uses no inference. Hard per-user daily caps. Cost is a launch guardrail, not a post-hoc 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266944"/>
            <a:ext cx="10765231" cy="6400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266944"/>
            <a:ext cx="44450" cy="64008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266944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onsolas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5266944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81D"/>
                </a:solidFill>
                <a:latin typeface="Segoe UI"/>
              </a:rPr>
              <a:t>A wrong match causes a bad purchase, or app-store rejection over clipboard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526694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70"/>
                </a:solidFill>
                <a:latin typeface="Segoe UI"/>
              </a:rPr>
              <a:t>Confidence thresholds tuned toward false negatives; visible “report a wrong match”; permission-gated, user-initiated triggers only, reviewed with legal in Phase 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3642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8A0AC"/>
                </a:solidFill>
                <a:latin typeface="Segoe UI"/>
              </a:rPr>
              <a:t>The defensible asset is not the interface — it is the catalogue, the customer-state data, and the merchant budget relationships. Those compound; a UI does not.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AFBA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E17"/>
                </a:solidFill>
                <a:latin typeface="Consolas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cheapest incremental GMV available to ShopBack</a:t>
            </a:r>
            <a:br/>
            <a:r>
              <a:rPr sz="3000" b="1" i="0">
                <a:solidFill>
                  <a:srgbClr val="FFFFFF"/>
                </a:solidFill>
                <a:latin typeface="Segoe UI"/>
              </a:rPr>
              <a:t>is not new demand — it is the demand ShopBack</a:t>
            </a:r>
            <a:br/>
            <a:r>
              <a:rPr sz="3000" b="1" i="0">
                <a:solidFill>
                  <a:srgbClr val="FFFFFF"/>
                </a:solidFill>
                <a:latin typeface="Segoe UI"/>
              </a:rPr>
              <a:t>already influences but fails to capture.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749039"/>
            <a:ext cx="2926080" cy="38100"/>
          </a:xfrm>
          <a:prstGeom prst="rect">
            <a:avLst/>
          </a:prstGeom>
          <a:solidFill>
            <a:srgbClr val="FF4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114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4E17"/>
                </a:solidFill>
                <a:latin typeface="Segoe UI"/>
              </a:rPr>
              <a:t>Lens  </a:t>
            </a:r>
            <a:r>
              <a:rPr sz="1600">
                <a:solidFill>
                  <a:srgbClr val="B8BEC8"/>
                </a:solidFill>
                <a:latin typeface="Segoe UI Light"/>
              </a:rPr>
              <a:t>removes the requirement to remember — from the app the user is already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535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4E17"/>
                </a:solidFill>
                <a:latin typeface="Segoe UI"/>
              </a:rPr>
              <a:t>Smart Rates  </a:t>
            </a:r>
            <a:r>
              <a:rPr sz="1600">
                <a:solidFill>
                  <a:srgbClr val="B8BEC8"/>
                </a:solidFill>
                <a:latin typeface="Segoe UI Light"/>
              </a:rPr>
              <a:t>lets merchants buy verified incrementality without cutting anyone's published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56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4E17"/>
                </a:solidFill>
                <a:latin typeface="Segoe UI"/>
              </a:rPr>
              <a:t>The holdout  </a:t>
            </a:r>
            <a:r>
              <a:rPr sz="1600">
                <a:solidFill>
                  <a:srgbClr val="B8BEC8"/>
                </a:solidFill>
                <a:latin typeface="Segoe UI Light"/>
              </a:rPr>
              <a:t>tells us honestly whether either of those is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4"/>
                </a:solidFill>
                <a:latin typeface="Consolas"/>
              </a:rPr>
              <a:t>Open questions I would want answered in week one:  the measured leakage rate  ·  SKU-level completeness of the merchant feed  ·  whether current contracts permit differentiated rates  ·  whether Taiwan is the better first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